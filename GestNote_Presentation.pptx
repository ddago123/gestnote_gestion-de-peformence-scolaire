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GestNote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BFDBFF"/>
                </a:solidFill>
              </a:rPr>
              <a:t>Système de Gestion des Performances </a:t>
            </a:r>
            <a:r>
              <a:rPr sz="2200" b="0" i="0" dirty="0" err="1">
                <a:solidFill>
                  <a:srgbClr val="BFDBFF"/>
                </a:solidFill>
              </a:rPr>
              <a:t>Scolaires</a:t>
            </a:r>
            <a:endParaRPr sz="2200" b="0" i="0" dirty="0">
              <a:solidFill>
                <a:srgbClr val="BFDB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3C5FD"/>
                </a:solidFill>
              </a:rPr>
              <a:t>Application web Flask · SQLite · JavaScript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623560"/>
            <a:ext cx="22860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5099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Authentification sécurisée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623560"/>
            <a:ext cx="22860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565099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Import 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5623560"/>
            <a:ext cx="22860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565099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Alertes pédagogiques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5623560"/>
            <a:ext cx="2286000" cy="384048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5650992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Export rapports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0554E-9CF4-AF50-F180-EB9E19AF49A6}"/>
              </a:ext>
            </a:extLst>
          </p:cNvPr>
          <p:cNvSpPr txBox="1"/>
          <p:nvPr/>
        </p:nvSpPr>
        <p:spPr>
          <a:xfrm>
            <a:off x="5569974" y="4347972"/>
            <a:ext cx="64057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I" sz="2200" dirty="0">
                <a:solidFill>
                  <a:srgbClr val="BFDBFF"/>
                </a:solidFill>
              </a:rPr>
              <a:t>D</a:t>
            </a:r>
            <a:r>
              <a:rPr lang="fr-FR" sz="2200" dirty="0">
                <a:solidFill>
                  <a:srgbClr val="BFDBFF"/>
                </a:solidFill>
              </a:rPr>
              <a:t>AGO DADJE ALEXANDRE  -  CI0221058460</a:t>
            </a:r>
            <a:endParaRPr sz="2200" b="0" i="0" dirty="0">
              <a:solidFill>
                <a:srgbClr val="BFDB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560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😟 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Suivi des notes dispersé (papier, Excel)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Aucune détection automatique des difficultés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Pas de vision globale par classe/matière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Absence d'alertes pédagogiques proactives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Rapports manuels chronophages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577840" cy="2560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73152" cy="2560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✅  Solution GestNote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19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Plateforme web centralisée et sécurisée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Import CSV rapide des notes et élèves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04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Calcul automatique des moyennes pondérées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96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Alertes intelligentes (baisse, excellence…)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895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Rapports et export CSV instantanés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11430000" cy="1005840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114300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👥  Public cible 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114800"/>
            <a:ext cx="265176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414223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Directeurs d'établissements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114800"/>
            <a:ext cx="265176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414223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Enseignants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4114800"/>
            <a:ext cx="265176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414223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Secrétaires pédagogiques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66360"/>
            <a:ext cx="114300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🏫  Niveaux scolaires couverts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2578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6ème · 5ème · 4ème · 3ème · 2nde · 1ère A/C/D · Terminale A/C/D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640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🔐  Authentification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Login sécurisé (session Flask)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4825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Credentials via variables d'env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505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Protection de toutes les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5292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Déconnexion automatique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4300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143000"/>
            <a:ext cx="3566160" cy="64008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63CA"/>
                </a:solidFill>
              </a:rPr>
              <a:t>📋 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Gestion années scolaires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4825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Création de classes par niveau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505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Coefficients par matière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5292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Matières pré-configurées/niveau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14300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143000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👨‍🎓  Gestion Élèves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64592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Import CSV en masse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04825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Ajout individuel depuis l'UI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4505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Suppression avec cascade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85292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Recherche &amp; navigation par classe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0332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703320"/>
            <a:ext cx="356616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38404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📊  Import de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0624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Import CSV avec prévisualisation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6085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Détection des doublons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0109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Ajout manuel par formulaire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41324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Modification &amp; suppression inline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70332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3703320"/>
            <a:ext cx="35661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38404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🔔  Alertes Pédagogiques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0624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Baisse de performance détectée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6085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Notes basses consécutives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0109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Excellence maintenue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41324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Progression encourageante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703320"/>
            <a:ext cx="3566160" cy="2331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46720" y="370332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38404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📈  Rapports &amp; Stats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206240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Moyenne pondérée par élève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608576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Écart-type par matière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01091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Graphique de distribution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413248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Export CSV compatible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25146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🔔  Alertes pédagogiques actives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4864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" y="1719072"/>
            <a:ext cx="5074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92224"/>
            <a:ext cx="9601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19656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7393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Ali Koné — Mathématiques : 3 notes consécutives &lt;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810512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837943"/>
            <a:ext cx="2560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22576"/>
            <a:ext cx="54864" cy="4754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" y="2322576"/>
            <a:ext cx="5074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395728"/>
            <a:ext cx="96012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423160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77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Sara Diallo — Physique : baisse de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414016"/>
            <a:ext cx="256032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2441448"/>
            <a:ext cx="2560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926080"/>
            <a:ext cx="54864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" y="2926080"/>
            <a:ext cx="5074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999232"/>
            <a:ext cx="960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026664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SUCCÈS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29809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Marc Traoré — Français : excellence maintenue ≥17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017520"/>
            <a:ext cx="25603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80" y="3044952"/>
            <a:ext cx="25603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83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→ Bouton "Résoudre" individuel ou "Résoudre toutes"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188720"/>
            <a:ext cx="589788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1188720"/>
            <a:ext cx="589788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📊  Statistiques par matière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71907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Matière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7190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Coef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17190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Moy.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7190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Éc.-type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17190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17190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011680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0" y="204825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Mathématiques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0482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20482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13.45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04825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2.18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20482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20482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19.5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2450592"/>
            <a:ext cx="566928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0" y="248716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Français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487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2487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11.20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2487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3.04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24871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24871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18.0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2889504"/>
            <a:ext cx="5669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26480" y="29260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Physique-Chim.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926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29260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10.80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926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2.55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2926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2926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17.0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328416"/>
            <a:ext cx="566928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26480" y="3364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Anglais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3364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14.10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3364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1.88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33649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33649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19.0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886200"/>
            <a:ext cx="1161288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74320" y="3886200"/>
            <a:ext cx="11612880" cy="54864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397763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👥  Liste des élèves — Moyennes &amp; niveaux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Matricule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Nom Prénom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Moyenne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Niveau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Alertes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65760" y="4626864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7200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EL001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KOUASSI Jean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15.32/20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4672583"/>
            <a:ext cx="13716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09360" y="4700016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10912"/>
            <a:ext cx="1143000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57200" y="50474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EL002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5047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DIALLO Mariam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488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11.78/20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5056631"/>
            <a:ext cx="13716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09360" y="5084064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Moyen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03920" y="5047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5394959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57200" y="5431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EL003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94560" y="5431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TRAORÉ Moussa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0" y="54315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7.45/20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5440679"/>
            <a:ext cx="13716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09360" y="5468112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Faible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03920" y="54315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5779007"/>
            <a:ext cx="1143000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7200" y="581558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EL004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94560" y="58155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BAMBA Aminata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581558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13.90/20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09360" y="5824727"/>
            <a:ext cx="137160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09360" y="5852159"/>
            <a:ext cx="1371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Moyen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0" y="581558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Import de Notes &amp; Système d'Alertes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070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Flux d'import 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92024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Sélectionner
classe &amp; matière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1920240" cy="822960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664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Choisir le
fichier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645920"/>
            <a:ext cx="19202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1664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Prévisualiser
&amp; valider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645920"/>
            <a:ext cx="192024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664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Confirmer
l'import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645920"/>
            <a:ext cx="19202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1664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691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Alertes
automatiques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06040"/>
            <a:ext cx="5394960" cy="1325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2606040"/>
            <a:ext cx="64008" cy="1325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📄  Format CSV attendu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matricule, nom_eleve, note,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</a:rPr>
              <a:t>EL001, KOUASSI Jean, 14.5, 2024-03-15
EL002, DIALLO Mariam, 11.0, 2024-03-15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606040"/>
            <a:ext cx="5897880" cy="13258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260604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2587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</a:rPr>
              <a:t>✅  Validations </a:t>
            </a:r>
            <a:r>
              <a:rPr sz="1200" b="1" i="0" dirty="0" err="1">
                <a:solidFill>
                  <a:srgbClr val="16A34A"/>
                </a:solidFill>
              </a:rPr>
              <a:t>automatiques</a:t>
            </a:r>
            <a:endParaRPr sz="1200" b="1" i="0" dirty="0">
              <a:solidFill>
                <a:srgbClr val="16A34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72200" y="28688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F2937"/>
                </a:solidFill>
              </a:rPr>
              <a:t>• Note 0–20 </a:t>
            </a:r>
            <a:r>
              <a:rPr sz="1100" b="0" i="0" dirty="0" err="1">
                <a:solidFill>
                  <a:srgbClr val="1F2937"/>
                </a:solidFill>
              </a:rPr>
              <a:t>vérifiée</a:t>
            </a:r>
            <a:endParaRPr sz="1100" b="0" i="0" dirty="0">
              <a:solidFill>
                <a:srgbClr val="1F2937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72200" y="312184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F2937"/>
                </a:solidFill>
              </a:rPr>
              <a:t>• </a:t>
            </a:r>
            <a:r>
              <a:rPr sz="1100" b="0" i="0" dirty="0" err="1">
                <a:solidFill>
                  <a:srgbClr val="1F2937"/>
                </a:solidFill>
              </a:rPr>
              <a:t>Matricule</a:t>
            </a:r>
            <a:r>
              <a:rPr sz="1100" b="0" i="0" dirty="0">
                <a:solidFill>
                  <a:srgbClr val="1F2937"/>
                </a:solidFill>
              </a:rPr>
              <a:t> inconnu </a:t>
            </a:r>
            <a:r>
              <a:rPr sz="1100" b="0" i="0" dirty="0" err="1">
                <a:solidFill>
                  <a:srgbClr val="1F2937"/>
                </a:solidFill>
              </a:rPr>
              <a:t>signalé</a:t>
            </a:r>
            <a:r>
              <a:rPr lang="fr-CI" sz="1100" b="0" i="0" dirty="0">
                <a:solidFill>
                  <a:srgbClr val="1F2937"/>
                </a:solidFill>
              </a:rPr>
              <a:t>s</a:t>
            </a:r>
            <a:endParaRPr sz="1100" b="0" i="0" dirty="0">
              <a:solidFill>
                <a:srgbClr val="1F2937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2200" y="33687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F2937"/>
                </a:solidFill>
              </a:rPr>
              <a:t>• </a:t>
            </a:r>
            <a:r>
              <a:rPr sz="1100" b="0" i="0" dirty="0" err="1">
                <a:solidFill>
                  <a:srgbClr val="1F2937"/>
                </a:solidFill>
              </a:rPr>
              <a:t>Doublon</a:t>
            </a:r>
            <a:r>
              <a:rPr sz="1100" b="0" i="0" dirty="0">
                <a:solidFill>
                  <a:srgbClr val="1F2937"/>
                </a:solidFill>
              </a:rPr>
              <a:t> (</a:t>
            </a:r>
            <a:r>
              <a:rPr sz="1100" b="0" i="0" dirty="0" err="1">
                <a:solidFill>
                  <a:srgbClr val="1F2937"/>
                </a:solidFill>
              </a:rPr>
              <a:t>même</a:t>
            </a:r>
            <a:r>
              <a:rPr sz="1100" b="0" i="0" dirty="0">
                <a:solidFill>
                  <a:srgbClr val="1F2937"/>
                </a:solidFill>
              </a:rPr>
              <a:t> </a:t>
            </a:r>
            <a:r>
              <a:rPr sz="1100" b="0" i="0" dirty="0" err="1">
                <a:solidFill>
                  <a:srgbClr val="1F2937"/>
                </a:solidFill>
              </a:rPr>
              <a:t>élève</a:t>
            </a:r>
            <a:r>
              <a:rPr sz="1100" b="0" i="0" dirty="0">
                <a:solidFill>
                  <a:srgbClr val="1F2937"/>
                </a:solidFill>
              </a:rPr>
              <a:t>, </a:t>
            </a:r>
            <a:r>
              <a:rPr sz="1100" b="0" i="0" dirty="0" err="1">
                <a:solidFill>
                  <a:srgbClr val="1F2937"/>
                </a:solidFill>
              </a:rPr>
              <a:t>même</a:t>
            </a:r>
            <a:r>
              <a:rPr sz="1100" b="0" i="0" dirty="0">
                <a:solidFill>
                  <a:srgbClr val="1F2937"/>
                </a:solidFill>
              </a:rPr>
              <a:t> date) </a:t>
            </a:r>
            <a:r>
              <a:rPr sz="1100" b="0" i="0" dirty="0" err="1">
                <a:solidFill>
                  <a:srgbClr val="1F2937"/>
                </a:solidFill>
              </a:rPr>
              <a:t>ignoré</a:t>
            </a:r>
            <a:endParaRPr sz="1100" b="0" i="0" dirty="0">
              <a:solidFill>
                <a:srgbClr val="1F2937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72200" y="3634691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F2937"/>
                </a:solidFill>
              </a:rPr>
              <a:t>• Rapport : </a:t>
            </a:r>
            <a:r>
              <a:rPr sz="1100" b="0" i="0" dirty="0" err="1">
                <a:solidFill>
                  <a:srgbClr val="1F2937"/>
                </a:solidFill>
              </a:rPr>
              <a:t>importées</a:t>
            </a:r>
            <a:r>
              <a:rPr sz="1100" b="0" i="0" dirty="0">
                <a:solidFill>
                  <a:srgbClr val="1F2937"/>
                </a:solidFill>
              </a:rPr>
              <a:t> / </a:t>
            </a:r>
            <a:r>
              <a:rPr sz="1100" b="0" i="0" dirty="0" err="1">
                <a:solidFill>
                  <a:srgbClr val="1F2937"/>
                </a:solidFill>
              </a:rPr>
              <a:t>ignorées</a:t>
            </a:r>
            <a:r>
              <a:rPr sz="1100" b="0" i="0" dirty="0">
                <a:solidFill>
                  <a:srgbClr val="1F2937"/>
                </a:solidFill>
              </a:rPr>
              <a:t> / </a:t>
            </a:r>
            <a:r>
              <a:rPr sz="1100" b="0" i="0" dirty="0" err="1">
                <a:solidFill>
                  <a:srgbClr val="1F2937"/>
                </a:solidFill>
              </a:rPr>
              <a:t>erreurs</a:t>
            </a:r>
            <a:endParaRPr sz="1100" b="0" i="0" dirty="0">
              <a:solidFill>
                <a:srgbClr val="1F2937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" y="4114800"/>
            <a:ext cx="11612880" cy="45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4206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Types d'alertes générées automatiquement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17720"/>
            <a:ext cx="214884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4617720"/>
            <a:ext cx="21488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79" y="4681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Baisse de
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Moyenne récente
&lt; ancienne – 2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989320"/>
            <a:ext cx="137160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016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Sévérité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70048" y="4617720"/>
            <a:ext cx="214884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70048" y="4617720"/>
            <a:ext cx="2148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61488" y="4681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Notes basses
consécutives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1488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2 notes consécutives
en dessous de 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90088" y="5989320"/>
            <a:ext cx="137160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90088" y="6016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Sévérité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5" y="4617720"/>
            <a:ext cx="214884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20055" y="4617720"/>
            <a:ext cx="21488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11495" y="4681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Difficulté
persistante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11495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3 notes consécutives
en dessous de 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0095" y="5989320"/>
            <a:ext cx="137160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40095" y="6016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Sévérité 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70063" y="4617720"/>
            <a:ext cx="214884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70063" y="4617720"/>
            <a:ext cx="2148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61503" y="4681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Excellence
maintenue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61503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Moyenne ≥ 17 sur
les 5 dernières notes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90103" y="5989320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90103" y="6016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Sévérité 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20072" y="4617720"/>
            <a:ext cx="214884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720072" y="4617720"/>
            <a:ext cx="2148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811511" y="4681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Progression
encourageante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11511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Hausse de 2 pts
sur les 5 dernières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40111" y="5989320"/>
            <a:ext cx="13716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040111" y="6016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Sévérité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Rapports &amp;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8288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Élèves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79" y="1143000"/>
            <a:ext cx="182880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Moy. classe /20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182880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Bon niveau (≥14)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199" y="1143000"/>
            <a:ext cx="182880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39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9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Moyen (10–14)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18288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Faible (&lt;10)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143000"/>
            <a:ext cx="18288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95560" y="11887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1719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Alertes actives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23160"/>
            <a:ext cx="548640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Distribution des niveaux (Chart.js)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063240"/>
            <a:ext cx="109728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28254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6A34A"/>
                </a:solidFill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Bon (≥14)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196243"/>
            <a:ext cx="1097280" cy="13300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0360" y="295434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A580C"/>
                </a:solidFill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720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Moyen (10–14)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595254"/>
            <a:ext cx="1097280" cy="9310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79" y="33543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C2626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Faible (&lt;10)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35424"/>
            <a:ext cx="493776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89320" y="2423160"/>
            <a:ext cx="5897880" cy="3017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2514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Statistiques détaillées par matière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Matière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Coef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Moy.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Éc.type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Max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880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</a:rPr>
              <a:t>Notes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154680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Mathématiques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13.45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2.18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19.5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31912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557016"/>
            <a:ext cx="576072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8076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Français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11.20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3.04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5.5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95560" y="35935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3959352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8076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Physique-Chim.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10.80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2.55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3995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4361688"/>
            <a:ext cx="576072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8076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Anglais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14.10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4964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1.88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544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5560" y="43982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28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4764024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08076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SVT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79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12.60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964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1.95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3544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8.5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95560" y="4800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42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74320" y="5577840"/>
            <a:ext cx="1161288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720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📥  Export CSV  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34640" y="568756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Rapport complet : statistiques par matière + liste élèves avec moyennes  ·  Compatible Excel (BOM UTF-8)  ·  Téléchargement en 1 clic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566160" cy="4846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🐍  Backend (Python/Flask)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Flask Blueprints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11095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Routage modulaire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768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SQLite3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Base de données embarquée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16352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Flask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Authentification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92424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Python csv/io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3931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Traitement des imports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68496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math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1538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Écart-type (SQLite sans STDEV)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44568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5811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PRAGMA FK=ON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914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Intégrité référentielle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1572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Connexion/appel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675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Pattern simple &amp; sûr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8A"/>
                </a:solidFill>
              </a:rPr>
              <a:t>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7490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REST
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143000"/>
            <a:ext cx="3566160" cy="48463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54880" y="1143000"/>
            <a:ext cx="35661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🌐  Frontend (Vanilla JS)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1664208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1700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SPA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1911095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Single Page Application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2402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22768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Fetch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24871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Communication asynchrone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816352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Chart.js v4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306324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Graphiques (ligne &amp; barres)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392424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3429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escapeHtml()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363931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Protection XSS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968496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83480" y="4005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showToast()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421538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Notifications non-bloquantes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544568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83480" y="45811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setLoading()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47914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États de chargement boutons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512064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83480" y="51572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CSV 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53675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Blob + BOM UTF-8 (Excel)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8A"/>
                </a:solidFill>
              </a:rPr>
              <a:t>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7490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GET
SESSION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1143000"/>
            <a:ext cx="2743200" cy="4846320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144000" y="1143000"/>
            <a:ext cx="27432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81160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🗄️  Base SQLite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1664208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726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AnneesScolaires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22402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7260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Classes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2816352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7260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Élèves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3392424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72600" y="3465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Matières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3968496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7260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Notes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5440" y="4544568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37260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📋 Alertes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172200"/>
            <a:ext cx="1161288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6245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⚡  Performances 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60320" y="6245352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3 requêtes fixes par chargement de classe (au lieu de 2N+3)  ·  Batch SQL : notes &amp; alertes en 2 requêtes groupées  ·  Connexion légère par appel · Pas d'ORM overhead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Expérience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640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8A"/>
                </a:solidFill>
              </a:rPr>
              <a:t>🔔  Toasts de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Remplacent tous les alert() bloquants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84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4 types : succès, erreur, avertissement, 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237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Apparaissent 3.5s puis disparaissent seuls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6265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Position bas-droite, non-intrusifs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14300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143000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261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34A"/>
                </a:solidFill>
              </a:rPr>
              <a:t>⚡  États de chargement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Spinner + bouton désactivé pendant requête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84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6 boutons couverts (créer, importer, ajouter…)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237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Évite les doubles clics et soumissions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6265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Retour à l'état initial après réponse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14300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143000"/>
            <a:ext cx="356616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2618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A580C"/>
                </a:solidFill>
              </a:rPr>
              <a:t>🖥️  Indicateurs de contenu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6459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Spinner centré pendant chargement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0848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Spinner pendant chargement des rapports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5237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Remplacement instantané des placeholders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96265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Message d'erreur si la requête échoue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395935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</a:rPr>
              <a:t>⌨️  Raccourcis clavier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3434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Entrée sur champ "Année" → Créer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7823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Entrée sur champ "Classe" → Créer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22122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Entrée sur login/mdp → Se connecter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66013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Échap → Fermer la modal fiche élève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84048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3840480"/>
            <a:ext cx="35661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395935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🔍  Navigation élèves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3434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Sélecteur de classe pour lister tous les élèves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7823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Recherche textuelle (nom, prénom, matricule)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22122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Les deux modes partagent la zone de résultats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66013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Réinitialisation automatique entre les modes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840480"/>
            <a:ext cx="356616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46720" y="3840480"/>
            <a:ext cx="3566160" cy="64008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395935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763CA"/>
                </a:solidFill>
              </a:rPr>
              <a:t>✨  Polissage visuel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34340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Animation fluide d'ouverture de la modal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7823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Bouton "Détails" classe avec toggle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22122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Feedback ✓ vert sur sauvegarde coefficient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66013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• Classe CSS msg-warning ajoutée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3152" cy="2377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🔐  Authentification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5506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Session Flask avec secret_key configurable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02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Identifiants via variables d'environnement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5000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hmac.compare_digest() contre les timing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9748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before_request : toutes les API /api/* protégées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449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401 → réaffichage automatique du formulaire de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66928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7315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🛡️  Protection XSS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65506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Fonction escapeHtml() appliquée partout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025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Noms d'élèves, alertes, classes, matricules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35000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Remplacement de innerHTML par du texte échappé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9748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Aucune donnée utilisateur insérée brute dans le 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449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Couvre : recherche, dashboard, fiche élève, rapports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73152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813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🔒  Intégrité des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215383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PRAGMA foreign_keys = ON sur chaque connexion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56285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Requêtes paramétrées (aucun SQL injection possible)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910327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Contraintes UNIQUE en base (matricule, classe, nom)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2578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Détection de doublons côté serveur avant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605271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Validation 0–20 en Python ET en SQLite (CHECK)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03320"/>
            <a:ext cx="566928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703320"/>
            <a:ext cx="73152" cy="2377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8" y="3813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</a:rPr>
              <a:t>⚙️  Configuration sécurisée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215383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SECRET_KEY via $env:SECRET_KEY (jamais en dur)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56285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GESTNOTE_USER / GESTNOTE_PASS configurables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910327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Recommandation : SECRET_KEY aléatoire en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2578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Session permanente (durée de vie configurable)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605271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• Pas de credentials dans le code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640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✅  Ce qui est livré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Configuration complète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Années, classes, niveaux, coefficients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Gestion des élèves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9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Import CSV, ajout/suppression individuel, recherche,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Import de notes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31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CSV avec preview, détection doublons, ajout manuel, édition inline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Dashboard temps réel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Alertes, stats matières, moyennes pondérées, fiche élève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Alertes intelligentes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5 types, 5 niveaux de sévérité, résolution depuis dashboard &amp; fiche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29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Rapports &amp; Export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29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Synthèse classe, distribution, écart-type, export CSV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31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Sécurité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31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Auth session, XSS protégé, FK intégrité, requêtes paramétrées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</a:rPr>
              <a:t>✔ UX soignée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Toasts, spinners, raccourcis clavier, animations, responsive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54680"/>
            <a:ext cx="1161288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2735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🗺️  Backlog — Prochaines évolutions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18288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79" y="3822191"/>
            <a:ext cx="50292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7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7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</a:rPr>
              <a:t>Robustesse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Import tout-ou-rien
→ lignes valides seules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5144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95144" y="3749039"/>
            <a:ext cx="18288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86584" y="3822191"/>
            <a:ext cx="50292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86584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53512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53512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</a:rPr>
              <a:t>Robustesse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6584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try/catch manquants
(supprimerClasse…)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0248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70248" y="3749039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61688" y="3822191"/>
            <a:ext cx="50292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61688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28616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28616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</a:rPr>
              <a:t>Rapports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688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Comparaison
inter-classes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45352" y="3749039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36792" y="3822191"/>
            <a:ext cx="50292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36792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03720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</a:rPr>
              <a:t>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Tri colonnes
par clic d'en-tête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0456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0456" y="3749039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11896" y="3822191"/>
            <a:ext cx="50292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11896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78824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78824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</a:rPr>
              <a:t>Données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Validation date
naissance (âge 8-25)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95560" y="3749039"/>
            <a:ext cx="182880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195560" y="3749039"/>
            <a:ext cx="1828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287000" y="3822191"/>
            <a:ext cx="502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287000" y="3849624"/>
            <a:ext cx="502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#6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53928" y="3822191"/>
            <a:ext cx="10515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853928" y="384962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Perf.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4178808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Connexion BD
par requête Flask (g)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852160"/>
            <a:ext cx="1161288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989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Stack :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554480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39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91839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Flask 3.x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0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SQLite 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59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66559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Chart.js 4.4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19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03919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Vanilla JS ES6+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41280" y="5989320"/>
            <a:ext cx="1600200" cy="347472"/>
          </a:xfrm>
          <a:prstGeom prst="rect">
            <a:avLst/>
          </a:prstGeom>
          <a:solidFill>
            <a:srgbClr val="376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41280" y="60167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1488</Words>
  <Application>Microsoft Office PowerPoint</Application>
  <PresentationFormat>Custom</PresentationFormat>
  <Paragraphs>385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Alexandre DAGO DADJE</cp:lastModifiedBy>
  <cp:revision>3</cp:revision>
  <dcterms:created xsi:type="dcterms:W3CDTF">2013-01-27T09:14:16Z</dcterms:created>
  <dcterms:modified xsi:type="dcterms:W3CDTF">2026-06-16T09:12:42Z</dcterms:modified>
  <cp:category/>
</cp:coreProperties>
</file>